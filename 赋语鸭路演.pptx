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0F0F0F"/>
                </a:solidFill>
                <a:latin typeface="Cormorant Garamond"/>
              </a:defRPr>
            </a:pPr>
            <a:r>
              <a:t>赋 语 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6B6653"/>
                </a:solidFill>
                <a:latin typeface="Source Serif 4"/>
              </a:defRPr>
            </a:pPr>
            <a:r>
              <a:t>专为语发声沟通困难者设计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28D7A"/>
                </a:solidFill>
                <a:latin typeface="Space Mono"/>
              </a:defRPr>
            </a:pPr>
            <a:r>
              <a:t>07:42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60"/>
              </a:lnSpc>
              <a:defRPr sz="3600" b="0" i="0">
                <a:solidFill>
                  <a:srgbClr val="0F0F0F"/>
                </a:solidFill>
                <a:latin typeface="Source Serif 4"/>
              </a:defRPr>
            </a:pPr>
            <a:r>
              <a:t>小林醒了。</a:t>
            </a:r>
          </a:p>
          <a:p>
            <a:pPr algn="l">
              <a:lnSpc>
                <a:spcPts val="5760"/>
              </a:lnSpc>
              <a:defRPr sz="3600" b="0" i="0">
                <a:solidFill>
                  <a:srgbClr val="0F0F0F"/>
                </a:solidFill>
                <a:latin typeface="Source Serif 4"/>
              </a:defRPr>
            </a:pPr>
            <a:r>
              <a:t>她想告诉妈妈：</a:t>
            </a:r>
          </a:p>
          <a:p>
            <a:pPr algn="l">
              <a:lnSpc>
                <a:spcPts val="5760"/>
              </a:lnSpc>
              <a:defRPr sz="3600" b="0" i="1">
                <a:solidFill>
                  <a:srgbClr val="0F0F0F"/>
                </a:solidFill>
                <a:latin typeface="Source Serif 4"/>
              </a:defRPr>
            </a:pPr>
            <a:r>
              <a:t>"我后背很疼，帮我翻个身。"</a:t>
            </a:r>
          </a:p>
          <a:p>
            <a:pPr algn="l">
              <a:lnSpc>
                <a:spcPts val="5760"/>
              </a:lnSpc>
              <a:defRPr sz="3600" b="1" i="0">
                <a:solidFill>
                  <a:srgbClr val="0F0F0F"/>
                </a:solidFill>
                <a:latin typeface="Source Serif 4"/>
              </a:defRPr>
            </a:pPr>
            <a:r>
              <a:t>但她说不出来。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 i="0">
                <a:solidFill>
                  <a:srgbClr val="F26522"/>
                </a:solidFill>
                <a:latin typeface="VT323"/>
              </a:defRPr>
            </a:pPr>
            <a:r>
              <a:t>00:32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6653"/>
                </a:solidFill>
                <a:latin typeface="Source Serif 4"/>
              </a:defRPr>
            </a:pPr>
            <a:r>
              <a:t>传统 AAC：逐字点选 → 层层翻页。32 秒后，句子终于拼出来。妈妈已经去厨房了。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28D7A"/>
                </a:solidFill>
                <a:latin typeface="Space Mono"/>
              </a:defRPr>
            </a:pPr>
            <a:r>
              <a:t>15:15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120"/>
              </a:lnSpc>
              <a:defRPr sz="3200" b="0" i="0">
                <a:solidFill>
                  <a:srgbClr val="0F0F0F"/>
                </a:solidFill>
                <a:latin typeface="Source Serif 4"/>
              </a:defRPr>
            </a:pPr>
            <a:r>
              <a:t>护士正要注射。小林拼命摇头——</a:t>
            </a:r>
          </a:p>
          <a:p>
            <a:pPr algn="l">
              <a:lnSpc>
                <a:spcPts val="5120"/>
              </a:lnSpc>
              <a:defRPr sz="3200" b="0" i="0">
                <a:solidFill>
                  <a:srgbClr val="0F0F0F"/>
                </a:solidFill>
                <a:latin typeface="Source Serif 4"/>
              </a:defRPr>
            </a:pPr>
            <a:r>
              <a:t>她对青霉素过敏。</a:t>
            </a:r>
          </a:p>
          <a:p>
            <a:pPr algn="l">
              <a:lnSpc>
                <a:spcPts val="5120"/>
              </a:lnSpc>
              <a:defRPr sz="3200" b="0" i="0">
                <a:solidFill>
                  <a:srgbClr val="0F0F0F"/>
                </a:solidFill>
                <a:latin typeface="Source Serif 4"/>
              </a:defRPr>
            </a:pPr>
            <a:r>
              <a:t>但"青霉素"这个词，不在词板的首页。</a:t>
            </a:r>
          </a:p>
          <a:p>
            <a:pPr algn="l">
              <a:lnSpc>
                <a:spcPts val="5120"/>
              </a:lnSpc>
              <a:defRPr sz="3200" b="0" i="0">
                <a:solidFill>
                  <a:srgbClr val="0F0F0F"/>
                </a:solidFill>
                <a:latin typeface="Source Serif 4"/>
              </a:defRPr>
            </a:pPr>
            <a:r>
              <a:t>不在第二页。不在第三页。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0F0F0F"/>
                </a:solidFill>
                <a:latin typeface="Cormorant Garamond"/>
              </a:defRPr>
            </a:pPr>
            <a:r>
              <a:t>当你的命取决于 一秒钟 的表达能力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653"/>
                </a:solidFill>
                <a:latin typeface="Source Serif 4"/>
              </a:defRPr>
            </a:pPr>
            <a:r>
              <a:t>而你只有三十秒的翻页时间。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F0F0F"/>
                </a:solidFill>
                <a:latin typeface="Cormorant Garamond"/>
              </a:defRPr>
            </a:pPr>
            <a:r>
              <a:t>中国有超过 3000 万 言语障碍者。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rgbClr val="FAF8F3"/>
          </a:solidFill>
          <a:ln w="6350"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28D7A"/>
                </a:solidFill>
                <a:latin typeface="Space Mono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0F0F"/>
                </a:solidFill>
                <a:latin typeface="Inter"/>
              </a:defRPr>
            </a:pPr>
            <a:r>
              <a:t>现有 AAC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74339"/>
                </a:solidFill>
                <a:latin typeface="Source Serif 4"/>
              </a:defRPr>
            </a:pPr>
            <a:r>
              <a:t>逐字点选</a:t>
            </a:r>
            <a:br/>
            <a:r>
              <a:t>翻页找词</a:t>
            </a:r>
            <a:br/>
            <a:r>
              <a:t>30秒/句话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645920"/>
            <a:ext cx="3474720" cy="3200400"/>
          </a:xfrm>
          <a:prstGeom prst="roundRect">
            <a:avLst/>
          </a:prstGeom>
          <a:solidFill>
            <a:srgbClr val="FAF8F3"/>
          </a:solidFill>
          <a:ln w="6350"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28D7A"/>
                </a:solidFill>
                <a:latin typeface="Space Mono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0F0F"/>
                </a:solidFill>
                <a:latin typeface="Inter"/>
              </a:defRPr>
            </a:pPr>
            <a:r>
              <a:t>使用体验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6517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74339"/>
                </a:solidFill>
                <a:latin typeface="Source Serif 4"/>
              </a:defRPr>
            </a:pPr>
            <a:r>
              <a:t>机械僵硬</a:t>
            </a:r>
            <a:br/>
            <a:r>
              <a:t>无情绪</a:t>
            </a:r>
            <a:br/>
            <a:r>
              <a:t>无个人风格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474720" cy="3200400"/>
          </a:xfrm>
          <a:prstGeom prst="roundRect">
            <a:avLst/>
          </a:prstGeom>
          <a:solidFill>
            <a:srgbClr val="FAF8F3"/>
          </a:solidFill>
          <a:ln w="6350"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28D7A"/>
                </a:solidFill>
                <a:latin typeface="Space Mono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0F0F"/>
                </a:solidFill>
                <a:latin typeface="Inter"/>
              </a:defRPr>
            </a:pPr>
            <a:r>
              <a:t>真实代价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517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74339"/>
                </a:solidFill>
                <a:latin typeface="Source Serif 4"/>
              </a:defRPr>
            </a:pPr>
            <a:r>
              <a:t>放弃沟通</a:t>
            </a:r>
            <a:br/>
            <a:r>
              <a:t>社交隔离</a:t>
            </a:r>
            <a:br/>
            <a:r>
              <a:t>失去尊严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26522"/>
                </a:solidFill>
                <a:latin typeface="Cormorant Garamond"/>
              </a:defRPr>
            </a:pPr>
            <a:r>
              <a:t>不是他们不想说话。是工具让他们等不起。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653"/>
                </a:solidFill>
                <a:latin typeface="Source Serif 4"/>
              </a:defRPr>
            </a:pPr>
            <a:r>
              <a:t>赋语鸭不是 TTS 文字转语音。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F26522"/>
                </a:solidFill>
                <a:latin typeface="Cormorant Garamond"/>
              </a:defRPr>
            </a:pPr>
            <a:r>
              <a:t>它是一个 AI 沟通代理。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0F0F0F"/>
                </a:solidFill>
                <a:latin typeface="Inter"/>
              </a:defRPr>
            </a:pPr>
            <a:r>
              <a:t>关键词  ↓  场景  ↓  语气  →  AI 生成自然表达  →  一键语音播出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572000"/>
            <a:ext cx="5790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B6653"/>
                </a:solidFill>
                <a:latin typeface="Space Mono"/>
              </a:defRPr>
            </a:pPr>
            <a:r>
              <a:t>快          自然          有尊严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4114800" cy="5029200"/>
          </a:xfrm>
          <a:prstGeom prst="roundRect">
            <a:avLst/>
          </a:prstGeom>
          <a:solidFill>
            <a:srgbClr val="FAF8F3"/>
          </a:solidFill>
          <a:ln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1645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0F0F0F"/>
                </a:solidFill>
                <a:latin typeface="Inter"/>
              </a:defRPr>
            </a:pPr>
            <a:r>
              <a:t>我不能用声音说话，</a:t>
            </a:r>
            <a:br/>
            <a:r>
              <a:t>但我能理解你。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0F0F0F"/>
                </a:solidFill>
                <a:latin typeface="Inter"/>
              </a:defRPr>
            </a:pPr>
            <a:r>
              <a:t>请给我一点时间。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0F0F0F"/>
                </a:solidFill>
                <a:latin typeface="Inter"/>
              </a:defRPr>
            </a:pPr>
            <a:r>
              <a:t>请一次问一个问题。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1097280" cy="320040"/>
          </a:xfrm>
          <a:prstGeom prst="roundRect">
            <a:avLst/>
          </a:prstGeom>
          <a:solidFill>
            <a:srgbClr val="FD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898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26522"/>
                </a:solidFill>
                <a:latin typeface="Space Mono"/>
              </a:defRPr>
            </a:pPr>
            <a:r>
              <a:t>第一秒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6653"/>
                </a:solidFill>
                <a:latin typeface="Inter"/>
              </a:defRPr>
            </a:pPr>
            <a:r>
              <a:t>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0F0F"/>
                </a:solidFill>
                <a:latin typeface="Source Serif 4"/>
              </a:defRPr>
            </a:pPr>
            <a:r>
              <a:t>打开 App 的第一眼，告诉陌生人如何与你沟通。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6653"/>
                </a:solidFill>
                <a:latin typeface="Inter"/>
              </a:defRPr>
            </a:pPr>
            <a:r>
              <a:t>解决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0F0F"/>
                </a:solidFill>
                <a:latin typeface="Source Serif 4"/>
              </a:defRPr>
            </a:pPr>
            <a:r>
              <a:t>第一秒的社交误解——对方不知道你在等什么。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6653"/>
                </a:solidFill>
                <a:latin typeface="Inter"/>
              </a:defRPr>
            </a:pPr>
            <a:r>
              <a:t>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805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0F0F"/>
                </a:solidFill>
                <a:latin typeface="Source Serif 4"/>
              </a:defRPr>
            </a:pPr>
            <a:r>
              <a:t>不是替用户说话，是帮用户建立沟通规则。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F0F0F"/>
                </a:solidFill>
                <a:latin typeface="Cormorant Garamond"/>
              </a:defRPr>
            </a:pPr>
            <a:r>
              <a:t>场景模式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2194560"/>
          </a:xfrm>
          <a:prstGeom prst="roundRect">
            <a:avLst/>
          </a:prstGeom>
          <a:solidFill>
            <a:srgbClr val="FAF8F3"/>
          </a:solidFill>
          <a:ln w="6350"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0F0F0F"/>
                </a:solidFill>
                <a:latin typeface="Inter"/>
              </a:defRPr>
            </a:pPr>
            <a:r>
              <a:t>🍽️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0F0F"/>
                </a:solidFill>
                <a:latin typeface="Inter"/>
              </a:defRPr>
            </a:pPr>
            <a:r>
              <a:t>餐厅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74339"/>
                </a:solidFill>
                <a:latin typeface="Source Serif 4"/>
              </a:defRPr>
            </a:pPr>
            <a:r>
              <a:t>"我想点这个"</a:t>
            </a:r>
            <a:br/>
            <a:r>
              <a:t>"不要辣"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5303520" cy="2194560"/>
          </a:xfrm>
          <a:prstGeom prst="roundRect">
            <a:avLst/>
          </a:prstGeom>
          <a:solidFill>
            <a:srgbClr val="FAF8F3"/>
          </a:solidFill>
          <a:ln w="6350"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0F0F0F"/>
                </a:solidFill>
                <a:latin typeface="Inter"/>
              </a:defRPr>
            </a:pPr>
            <a:r>
              <a:t>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0F0F"/>
                </a:solidFill>
                <a:latin typeface="Inter"/>
              </a:defRPr>
            </a:pPr>
            <a:r>
              <a:t>医院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74339"/>
                </a:solidFill>
                <a:latin typeface="Source Serif 4"/>
              </a:defRPr>
            </a:pPr>
            <a:r>
              <a:t>"我对这个药过敏"</a:t>
            </a:r>
            <a:br/>
            <a:r>
              <a:t>"请联系我的家人"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5303520" cy="2194560"/>
          </a:xfrm>
          <a:prstGeom prst="roundRect">
            <a:avLst/>
          </a:prstGeom>
          <a:solidFill>
            <a:srgbClr val="FAF8F3"/>
          </a:solidFill>
          <a:ln w="6350"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0F0F0F"/>
                </a:solidFill>
                <a:latin typeface="Inter"/>
              </a:defRPr>
            </a:pPr>
            <a:r>
              <a:t>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0F0F"/>
                </a:solidFill>
                <a:latin typeface="Inter"/>
              </a:defRPr>
            </a:pPr>
            <a:r>
              <a:t>交通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74339"/>
                </a:solidFill>
                <a:latin typeface="Source Serif 4"/>
              </a:defRPr>
            </a:pPr>
            <a:r>
              <a:t>"我要去这里"</a:t>
            </a:r>
            <a:br/>
            <a:r>
              <a:t>"我坐过站了"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749039"/>
            <a:ext cx="5303520" cy="2194560"/>
          </a:xfrm>
          <a:prstGeom prst="roundRect">
            <a:avLst/>
          </a:prstGeom>
          <a:solidFill>
            <a:srgbClr val="FAF8F3"/>
          </a:solidFill>
          <a:ln w="6350"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0F0F0F"/>
                </a:solidFill>
                <a:latin typeface="Inter"/>
              </a:defRPr>
            </a:pPr>
            <a:r>
              <a:t>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0F0F"/>
                </a:solidFill>
                <a:latin typeface="Inter"/>
              </a:defRPr>
            </a:pPr>
            <a:r>
              <a:t>紧急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46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74339"/>
                </a:solidFill>
                <a:latin typeface="Source Serif 4"/>
              </a:defRPr>
            </a:pPr>
            <a:r>
              <a:t>"我需要去医院"</a:t>
            </a:r>
            <a:br/>
            <a:r>
              <a:t>"请联系紧急联系人"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2179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26522"/>
                </a:solidFill>
                <a:latin typeface="Cormorant Garamond"/>
              </a:defRPr>
            </a:pPr>
            <a:r>
              <a:t>无需翻页。场景驱动。一触即达。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F0F0F"/>
                </a:solidFill>
                <a:latin typeface="Cormorant Garamond"/>
              </a:defRPr>
            </a:pPr>
            <a:r>
              <a:t>关键词变完整句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200400" cy="731520"/>
          </a:xfrm>
          <a:prstGeom prst="roundRect">
            <a:avLst/>
          </a:prstGeom>
          <a:solidFill>
            <a:srgbClr val="FAF8F3"/>
          </a:solidFill>
          <a:ln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0F0F0F"/>
                </a:solidFill>
                <a:latin typeface="Space Mono"/>
              </a:defRPr>
            </a:pPr>
            <a:r>
              <a:t>头 痛 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26522"/>
                </a:solidFill>
                <a:latin typeface="Space Mono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508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"我头很痛，可以给我止痛药吗？"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3200400" cy="731520"/>
          </a:xfrm>
          <a:prstGeom prst="roundRect">
            <a:avLst/>
          </a:prstGeom>
          <a:solidFill>
            <a:srgbClr val="FAF8F3"/>
          </a:solidFill>
          <a:ln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0F0F0F"/>
                </a:solidFill>
                <a:latin typeface="Space Mono"/>
              </a:defRPr>
            </a:pPr>
            <a:r>
              <a:t>水 冷 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26522"/>
                </a:solidFill>
                <a:latin typeface="Space Mono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880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"我想喝一杯冰水。"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3200400" cy="731520"/>
          </a:xfrm>
          <a:prstGeom prst="roundRect">
            <a:avLst/>
          </a:prstGeom>
          <a:solidFill>
            <a:srgbClr val="FAF8F3"/>
          </a:solidFill>
          <a:ln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251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0F0F0F"/>
                </a:solidFill>
                <a:latin typeface="Space Mono"/>
              </a:defRPr>
            </a:pPr>
            <a:r>
              <a:t>不要 碰 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06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26522"/>
                </a:solidFill>
                <a:latin typeface="Space Mono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"请不要碰我，我需要一点空间。"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669280"/>
            <a:ext cx="6705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26522"/>
                </a:solidFill>
                <a:latin typeface="Cormorant Garamond"/>
              </a:defRPr>
            </a:pPr>
            <a:r>
              <a:t>不是填空。是理解意图。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EF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6304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28D7A"/>
                </a:solidFill>
                <a:latin typeface="Inter"/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57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28D7A"/>
                </a:solidFill>
                <a:latin typeface="Inter"/>
              </a:defRPr>
            </a:pPr>
            <a:r>
              <a:t>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逐字点选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关键词输入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30 秒拼一句话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3 秒生成完整句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机械僵硬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017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4 种语气可选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翻页找场景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场景自动切换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无法应对紧急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663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F0F0F"/>
                </a:solidFill>
                <a:latin typeface="Source Serif 4"/>
              </a:defRPr>
            </a:pPr>
            <a:r>
              <a:t>SOS 一键直达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28D7A"/>
                </a:solidFill>
                <a:latin typeface="Space Mono"/>
              </a:defRPr>
            </a:pPr>
            <a:r>
              <a:t>传统 AAC  ████████████████████████  30s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26522"/>
                </a:solidFill>
                <a:latin typeface="Space Mono"/>
              </a:defRPr>
            </a:pPr>
            <a:r>
              <a:t>赋语鸭    ██                          3s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274320"/>
            <a:ext cx="4876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474339"/>
                </a:solidFill>
                <a:latin typeface="Cormorant Garamond"/>
              </a:defRPr>
            </a:pPr>
            <a:r>
              <a:t>他们是谁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4389120"/>
          </a:xfrm>
          <a:prstGeom prst="roundRect">
            <a:avLst/>
          </a:prstGeom>
          <a:solidFill>
            <a:srgbClr val="FAF8F3"/>
          </a:solidFill>
          <a:ln w="6350"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26522"/>
                </a:solidFill>
                <a:latin typeface="Inter"/>
              </a:defRPr>
            </a:pPr>
            <a:r>
              <a:t>A 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74339"/>
                </a:solidFill>
                <a:latin typeface="Source Serif 4"/>
              </a:defRPr>
            </a:pPr>
            <a:r>
              <a:t>完全无法发声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defRPr sz="1400" b="0" i="0">
                <a:solidFill>
                  <a:srgbClr val="0F0F0F"/>
                </a:solidFill>
                <a:latin typeface="Source Serif 4"/>
              </a:defRPr>
            </a:pPr>
            <a:r>
              <a:t>脑瘫</a:t>
            </a:r>
            <a:br/>
            <a:r>
              <a:t>ALS / 渐冻症</a:t>
            </a:r>
            <a:br/>
            <a:r>
              <a:t>喉切术后</a:t>
            </a:r>
            <a:br/>
            <a:r>
              <a:t>自闭症非口语者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474339"/>
                </a:solidFill>
                <a:latin typeface="Cormorant Garamond"/>
              </a:defRPr>
            </a:pPr>
            <a:r>
              <a:t>"我脑子很清楚，但身体不让我说。"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303520" cy="4389120"/>
          </a:xfrm>
          <a:prstGeom prst="roundRect">
            <a:avLst/>
          </a:prstGeom>
          <a:solidFill>
            <a:srgbClr val="FAF8F3"/>
          </a:solidFill>
          <a:ln w="6350">
            <a:solidFill>
              <a:srgbClr val="D5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26522"/>
                </a:solidFill>
                <a:latin typeface="Inter"/>
              </a:defRPr>
            </a:pPr>
            <a:r>
              <a:t>B 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74339"/>
                </a:solidFill>
                <a:latin typeface="Source Serif 4"/>
              </a:defRPr>
            </a:pPr>
            <a:r>
              <a:t>失语症 · 找词困难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defRPr sz="1400" b="0" i="0">
                <a:solidFill>
                  <a:srgbClr val="0F0F0F"/>
                </a:solidFill>
                <a:latin typeface="Source Serif 4"/>
              </a:defRPr>
            </a:pPr>
            <a:r>
              <a:t>知道自己想说什么</a:t>
            </a:r>
            <a:br/>
            <a:r>
              <a:t>但句子碎片化</a:t>
            </a:r>
            <a:br/>
            <a:r>
              <a:t>说错词、说不完整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474339"/>
                </a:solidFill>
                <a:latin typeface="Cormorant Garamond"/>
              </a:defRPr>
            </a:pPr>
            <a:r>
              <a:t>"词在嘴边，但抓不住。"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436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26522"/>
                </a:solidFill>
                <a:latin typeface="Source Serif 4"/>
              </a:defRPr>
            </a:pPr>
            <a:r>
              <a:t>他们不是不说话。他们需要更好的方式被听见。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572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0F0F0F"/>
                </a:solidFill>
                <a:latin typeface="Cormorant Garamond"/>
              </a:defRPr>
            </a:pPr>
            <a:r>
              <a:t>我们已经在行动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0F0F0F"/>
                </a:solidFill>
                <a:latin typeface="Inter"/>
              </a:defRPr>
            </a:pPr>
            <a:r>
              <a:t>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0F0F"/>
                </a:solidFill>
                <a:latin typeface="Source Serif 4"/>
              </a:defRPr>
            </a:pPr>
            <a:r>
              <a:t>已与 江苏钟山老年康复医院 建立正式联系，产品已在落地验证路径上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0F0F0F"/>
                </a:solidFill>
                <a:latin typeface="Inter"/>
              </a:defRPr>
            </a:pPr>
            <a:r>
              <a:t>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6517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0F0F"/>
                </a:solidFill>
                <a:latin typeface="Source Serif 4"/>
              </a:defRPr>
            </a:pPr>
            <a:r>
              <a:t>康复科 言语治疗师 参与需求调研，提供一线临床反馈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0F0F0F"/>
                </a:solidFill>
                <a:latin typeface="Inter"/>
              </a:defRPr>
            </a:pPr>
            <a: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6576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0F0F"/>
                </a:solidFill>
                <a:latin typeface="Source Serif 4"/>
              </a:defRPr>
            </a:pPr>
            <a:r>
              <a:t>面向 失语症患者 的临床试用方案已在规划中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0F0F0F"/>
                </a:solidFill>
                <a:latin typeface="Inter"/>
              </a:defRPr>
            </a:pPr>
            <a:r>
              <a:t>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663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F0F0F"/>
                </a:solidFill>
                <a:latin typeface="Source Serif 4"/>
              </a:defRPr>
            </a:pPr>
            <a:r>
              <a:t>真实康复场景调研——医院、治疗室、患者家庭的 三重验证回路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5486400"/>
            <a:ext cx="4876495" cy="9144"/>
          </a:xfrm>
          <a:prstGeom prst="rect">
            <a:avLst/>
          </a:prstGeom>
          <a:solidFill>
            <a:srgbClr val="D5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57607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26522"/>
                </a:solidFill>
                <a:latin typeface="Cormorant Garamond"/>
              </a:defRPr>
            </a:pPr>
            <a:r>
              <a:t>这不是停留在代码仓库里的学生项目。这是一个正在走进真实世界的产品。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F0F0F"/>
                </a:solidFill>
                <a:latin typeface="Cormorant Garamond"/>
              </a:defRPr>
            </a:pPr>
            <a:r>
              <a:t>沟通不是特权。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474339"/>
                </a:solidFill>
                <a:latin typeface="Source Serif 4"/>
              </a:defRPr>
            </a:pPr>
            <a:r>
              <a:t>当 3000 万人因为说不出话而被社会忽略，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39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474339"/>
                </a:solidFill>
                <a:latin typeface="Source Serif 4"/>
              </a:defRPr>
            </a:pPr>
            <a:r>
              <a:t>这不是他们的缺陷，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474339"/>
                </a:solidFill>
                <a:latin typeface="Source Serif 4"/>
              </a:defRPr>
            </a:pPr>
            <a:r>
              <a:t>是工具的失职。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474339"/>
                </a:solidFill>
                <a:latin typeface="Source Serif 4"/>
              </a:defRPr>
            </a:pPr>
            <a:r>
              <a:t>赋语鸭要做的，不止是一个 App。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26522"/>
                </a:solidFill>
                <a:latin typeface="Cormorant Garamond"/>
              </a:defRPr>
            </a:pPr>
            <a:r>
              <a:t>是把「表达」还给每一个想说话的人。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0F0F0F"/>
                </a:solidFill>
                <a:latin typeface="Cormorant Garamond"/>
              </a:defRPr>
            </a:pPr>
            <a:r>
              <a:t>别让声音限制了你的表达。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840480"/>
            <a:ext cx="4876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28D7A"/>
                </a:solidFill>
                <a:latin typeface="Inter"/>
              </a:defRPr>
            </a:pPr>
            <a:r>
              <a:t>hello@fuyuya.com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28D7A"/>
                </a:solidFill>
                <a:latin typeface="Inter"/>
              </a:defRPr>
            </a:pPr>
            <a:r>
              <a:t>© 2026 赋语鸭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